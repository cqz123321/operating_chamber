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130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CB75A-4E94-6338-1D67-63656E32A2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F03877-06A2-1532-3604-49CED2B93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5D03B-24DD-8D2A-BB53-67ADF23E7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CA964-1649-E065-350E-C09B23CCE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8FA592-B556-D78A-476E-0B81F68C3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36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DAD8E-9674-3CC0-A565-86596FFDF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6D4EF2-0D21-6AF4-91C6-B1B547D07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570AD6-5E59-C7D0-F3D0-887138A6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B8629C-2C61-3D83-4620-E42F91F7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12EBE7-1B1C-1BE6-6A12-2DDE648C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38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7D8DD-4A3E-BA8C-E053-D9D86347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721F6D-ED91-B527-1F18-0D68D652B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565E0-0F81-F11C-AB92-1CD397F3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4A7844-3B5D-8899-38E2-767D37589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841F2-073B-DE8F-38D9-793DA9BE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19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821AE-976A-8F47-F531-56432809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225560-D5EE-6866-D38D-0B0D8B1C4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D74793-40DE-928B-C65A-E26C7FF07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40F018-DF83-0BE4-B40E-1D0E53F4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E91B10-D425-6896-BF21-F262F15F2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B757D8-12D6-71F7-049E-17320172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0437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937A3-AD99-9C18-9669-00A7633A0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606DFD-BA5F-0DC4-35BB-178A5D0DF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27A578-6594-9E1B-6F98-8B1120DD0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548674-59D4-E675-FC9B-B5113422E6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517C6C-4C5B-1993-DC84-BC9B57B05D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738AA2-F531-F3AF-0E47-887B7102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5FB949-33D6-652D-1B94-0CACCFD5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734C32-8AD3-C39A-88B8-5668EAC4A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1339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B1BDF-5CE2-1A0A-C134-08B7255F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7FEE0D-6117-C489-4E89-A09A1C1C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8CC71B-AC60-86D5-79BF-73EB02449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6491CE-D2C4-2073-011F-71C2604DC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46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91C3E5D-9A6A-43B7-0B9D-72343A937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7658383-2F20-ABDC-D046-47592635A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4433F2-87AA-4C99-AF45-77FDC2C76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94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621AA-7DAD-D582-B3F8-04A456432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232FE-FEB4-1042-3008-771F4B4E6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27E959-6D8B-6A0F-EB1A-F094CB0AA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14A16C-D065-9466-3F97-7DA6A8562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590C2F-0087-679A-5286-F21EC969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CE07A3-FAFA-DEDD-9D3E-CE30BD6A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05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D65EE9-DE22-1810-1B5B-8F48BBD0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85DFA4-7F0B-20D5-42D7-3D8C44CFF8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069252-B2EF-9BC5-0BCA-9B4BFD25F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2CDA70-AA71-CB5B-A00A-656798272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855E69-8AE3-A8F7-AD37-7F3C2CCB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43A1E4-3F23-1D95-20C3-CF3CD5EBB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60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2ACBB-2F39-66A4-ECC8-78D0A08B5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F88FB5-9956-FC6E-BEC5-5579304E7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9CAA68-05D4-4479-E583-8444C3978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104DA2-9ADF-EEE6-3B31-D46025BDC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52E3D-B942-3867-A67F-B3528FDE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04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5883C39-D3F1-41CB-EF53-82AC2FEF8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5255FF-08F1-ABB0-05AE-E611B75F5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D5DEA-5CE2-380F-533D-DBDD9EE6A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7B96E2-733A-9946-4090-DFBD1A693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8F6100-42BC-645A-8DB0-5447358D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223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1BFE4C-A98D-28BA-A995-C4059CCC8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8BB2C14-41C2-94DA-CC15-2DC67D92A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ED21DB-9316-20E2-245E-F1462BB787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A4D552-5A81-43CF-8C3F-CD10C7A3ACE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56BE64-B2DB-65F7-740C-566F26B8A7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4E692D-D5C6-9322-0AB6-96D0BA118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511E2-E328-4D0A-A60A-20F07469DE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49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ECCD60-89B2-ECB2-BA6B-C2A69982E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57316" cy="6858000"/>
          </a:xfrm>
          <a:prstGeom prst="rect">
            <a:avLst/>
          </a:prstGeom>
        </p:spPr>
      </p:pic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806374CA-2255-296E-A773-89C7DE60529E}"/>
              </a:ext>
            </a:extLst>
          </p:cNvPr>
          <p:cNvCxnSpPr>
            <a:cxnSpLocks/>
          </p:cNvCxnSpPr>
          <p:nvPr/>
        </p:nvCxnSpPr>
        <p:spPr>
          <a:xfrm flipV="1">
            <a:off x="3828658" y="908462"/>
            <a:ext cx="4656261" cy="1169720"/>
          </a:xfrm>
          <a:prstGeom prst="bentConnector3">
            <a:avLst>
              <a:gd name="adj1" fmla="val 2156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CF9A57EE-4791-03D6-7644-912CCAF9EF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262674" y="1475932"/>
            <a:ext cx="4789715" cy="3654776"/>
          </a:xfrm>
          <a:prstGeom prst="bentConnector3">
            <a:avLst>
              <a:gd name="adj1" fmla="val 999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CE32E2-4634-7F10-2C24-25DB130C1D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11" t="2061" r="44873" b="38650"/>
          <a:stretch/>
        </p:blipFill>
        <p:spPr bwMode="auto">
          <a:xfrm>
            <a:off x="8746177" y="106879"/>
            <a:ext cx="1920365" cy="2220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流程图: 直接访问存储器 14">
            <a:extLst>
              <a:ext uri="{FF2B5EF4-FFF2-40B4-BE49-F238E27FC236}">
                <a16:creationId xmlns:a16="http://schemas.microsoft.com/office/drawing/2014/main" id="{2CEBFC67-97D5-3FFC-3AE9-52139708DEF0}"/>
              </a:ext>
            </a:extLst>
          </p:cNvPr>
          <p:cNvSpPr/>
          <p:nvPr/>
        </p:nvSpPr>
        <p:spPr>
          <a:xfrm>
            <a:off x="9076160" y="3987426"/>
            <a:ext cx="1721657" cy="670956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0B9CEA8-1C7E-09CA-FAC3-B9E757884974}"/>
              </a:ext>
            </a:extLst>
          </p:cNvPr>
          <p:cNvCxnSpPr>
            <a:cxnSpLocks/>
          </p:cNvCxnSpPr>
          <p:nvPr/>
        </p:nvCxnSpPr>
        <p:spPr>
          <a:xfrm>
            <a:off x="8805553" y="4322904"/>
            <a:ext cx="2250374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D68F249-9482-D61D-495C-87C17E92B246}"/>
              </a:ext>
            </a:extLst>
          </p:cNvPr>
          <p:cNvSpPr txBox="1"/>
          <p:nvPr/>
        </p:nvSpPr>
        <p:spPr>
          <a:xfrm>
            <a:off x="8876271" y="4709018"/>
            <a:ext cx="2371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Lock in axial direction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6119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AD2D0DE-7162-D95D-7356-ED2AC260E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57316" cy="6858000"/>
          </a:xfrm>
          <a:prstGeom prst="rect">
            <a:avLst/>
          </a:prstGeom>
        </p:spPr>
      </p:pic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5792344E-9023-4316-D5D7-0631B29A4A6C}"/>
              </a:ext>
            </a:extLst>
          </p:cNvPr>
          <p:cNvCxnSpPr>
            <a:cxnSpLocks/>
          </p:cNvCxnSpPr>
          <p:nvPr/>
        </p:nvCxnSpPr>
        <p:spPr>
          <a:xfrm flipV="1">
            <a:off x="4374923" y="849086"/>
            <a:ext cx="4656261" cy="3034145"/>
          </a:xfrm>
          <a:prstGeom prst="bentConnector3">
            <a:avLst>
              <a:gd name="adj1" fmla="val 2895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FB105EB2-41CD-5030-C6C3-FFED52CF8B45}"/>
              </a:ext>
            </a:extLst>
          </p:cNvPr>
          <p:cNvCxnSpPr>
            <a:cxnSpLocks/>
          </p:cNvCxnSpPr>
          <p:nvPr/>
        </p:nvCxnSpPr>
        <p:spPr>
          <a:xfrm flipV="1">
            <a:off x="4851073" y="849086"/>
            <a:ext cx="4180111" cy="1567543"/>
          </a:xfrm>
          <a:prstGeom prst="bentConnector3">
            <a:avLst>
              <a:gd name="adj1" fmla="val 2059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2965D4A9-8CBD-6524-782C-059C71666730}"/>
              </a:ext>
            </a:extLst>
          </p:cNvPr>
          <p:cNvCxnSpPr>
            <a:cxnSpLocks/>
          </p:cNvCxnSpPr>
          <p:nvPr/>
        </p:nvCxnSpPr>
        <p:spPr>
          <a:xfrm flipV="1">
            <a:off x="2392878" y="849086"/>
            <a:ext cx="6638306" cy="3503220"/>
          </a:xfrm>
          <a:prstGeom prst="bentConnector3">
            <a:avLst>
              <a:gd name="adj1" fmla="val 5021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流程图: 直接访问存储器 16">
            <a:extLst>
              <a:ext uri="{FF2B5EF4-FFF2-40B4-BE49-F238E27FC236}">
                <a16:creationId xmlns:a16="http://schemas.microsoft.com/office/drawing/2014/main" id="{1F83B76A-7AC7-AFFB-85F5-BCF034111703}"/>
              </a:ext>
            </a:extLst>
          </p:cNvPr>
          <p:cNvSpPr/>
          <p:nvPr/>
        </p:nvSpPr>
        <p:spPr>
          <a:xfrm>
            <a:off x="8938293" y="2174791"/>
            <a:ext cx="1721657" cy="670956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DAA5D23-7CBA-FC9B-78DF-93B63B5E7BEF}"/>
              </a:ext>
            </a:extLst>
          </p:cNvPr>
          <p:cNvCxnSpPr>
            <a:cxnSpLocks/>
          </p:cNvCxnSpPr>
          <p:nvPr/>
        </p:nvCxnSpPr>
        <p:spPr>
          <a:xfrm>
            <a:off x="8667686" y="2510269"/>
            <a:ext cx="22503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F4FAB86-C521-CB5D-216F-0B326E589A79}"/>
              </a:ext>
            </a:extLst>
          </p:cNvPr>
          <p:cNvSpPr txBox="1"/>
          <p:nvPr/>
        </p:nvSpPr>
        <p:spPr>
          <a:xfrm>
            <a:off x="8718486" y="3913928"/>
            <a:ext cx="2856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Lock in torsional  direction </a:t>
            </a:r>
            <a:endParaRPr lang="zh-CN" altLang="en-US" dirty="0"/>
          </a:p>
        </p:txBody>
      </p:sp>
      <p:sp>
        <p:nvSpPr>
          <p:cNvPr id="21" name="箭头: 下弧形 20">
            <a:extLst>
              <a:ext uri="{FF2B5EF4-FFF2-40B4-BE49-F238E27FC236}">
                <a16:creationId xmlns:a16="http://schemas.microsoft.com/office/drawing/2014/main" id="{CCBC22D2-FA0B-C639-F82E-3D2052B14359}"/>
              </a:ext>
            </a:extLst>
          </p:cNvPr>
          <p:cNvSpPr/>
          <p:nvPr/>
        </p:nvSpPr>
        <p:spPr>
          <a:xfrm>
            <a:off x="9323168" y="3026724"/>
            <a:ext cx="1214334" cy="804552"/>
          </a:xfrm>
          <a:prstGeom prst="curved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129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流程图: 直接访问存储器 34">
            <a:extLst>
              <a:ext uri="{FF2B5EF4-FFF2-40B4-BE49-F238E27FC236}">
                <a16:creationId xmlns:a16="http://schemas.microsoft.com/office/drawing/2014/main" id="{18FB7303-48F3-29B0-3930-79AC0F39B017}"/>
              </a:ext>
            </a:extLst>
          </p:cNvPr>
          <p:cNvSpPr/>
          <p:nvPr/>
        </p:nvSpPr>
        <p:spPr>
          <a:xfrm>
            <a:off x="7473950" y="1159930"/>
            <a:ext cx="1244600" cy="334417"/>
          </a:xfrm>
          <a:prstGeom prst="flowChartMagneticDrum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流程图: 直接访问存储器 26">
            <a:extLst>
              <a:ext uri="{FF2B5EF4-FFF2-40B4-BE49-F238E27FC236}">
                <a16:creationId xmlns:a16="http://schemas.microsoft.com/office/drawing/2014/main" id="{2DAF9485-109C-2D51-DF70-4CE1D491BD64}"/>
              </a:ext>
            </a:extLst>
          </p:cNvPr>
          <p:cNvSpPr/>
          <p:nvPr/>
        </p:nvSpPr>
        <p:spPr>
          <a:xfrm>
            <a:off x="2470150" y="469899"/>
            <a:ext cx="2425700" cy="1117600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Capsule </a:t>
            </a:r>
            <a:endParaRPr lang="zh-CN" altLang="en-US" dirty="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941C078-6D9C-91CD-5A52-9B9AA1647F97}"/>
              </a:ext>
            </a:extLst>
          </p:cNvPr>
          <p:cNvCxnSpPr/>
          <p:nvPr/>
        </p:nvCxnSpPr>
        <p:spPr>
          <a:xfrm>
            <a:off x="4375150" y="1352549"/>
            <a:ext cx="1041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F9418054-89C5-2BC9-AAAB-5E1242D99BFA}"/>
              </a:ext>
            </a:extLst>
          </p:cNvPr>
          <p:cNvCxnSpPr/>
          <p:nvPr/>
        </p:nvCxnSpPr>
        <p:spPr>
          <a:xfrm>
            <a:off x="4781550" y="1250949"/>
            <a:ext cx="10414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549A3640-6644-4B55-C970-6A4F3E52D226}"/>
              </a:ext>
            </a:extLst>
          </p:cNvPr>
          <p:cNvSpPr/>
          <p:nvPr/>
        </p:nvSpPr>
        <p:spPr>
          <a:xfrm>
            <a:off x="4486275" y="819150"/>
            <a:ext cx="171450" cy="1841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流程图: 直接访问存储器 25">
            <a:extLst>
              <a:ext uri="{FF2B5EF4-FFF2-40B4-BE49-F238E27FC236}">
                <a16:creationId xmlns:a16="http://schemas.microsoft.com/office/drawing/2014/main" id="{1CE85EF1-3CF6-5BC8-61A3-472B40B689AF}"/>
              </a:ext>
            </a:extLst>
          </p:cNvPr>
          <p:cNvSpPr/>
          <p:nvPr/>
        </p:nvSpPr>
        <p:spPr>
          <a:xfrm>
            <a:off x="5924550" y="482599"/>
            <a:ext cx="2425700" cy="1117600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Vacuum Chamber  </a:t>
            </a:r>
            <a:endParaRPr lang="zh-CN" altLang="en-US" dirty="0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66BCB98-5174-4F87-0357-A09164B409C8}"/>
              </a:ext>
            </a:extLst>
          </p:cNvPr>
          <p:cNvSpPr/>
          <p:nvPr/>
        </p:nvSpPr>
        <p:spPr>
          <a:xfrm>
            <a:off x="6229350" y="571505"/>
            <a:ext cx="1244600" cy="781043"/>
          </a:xfrm>
          <a:prstGeom prst="round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流程图: 直接访问存储器 32">
            <a:extLst>
              <a:ext uri="{FF2B5EF4-FFF2-40B4-BE49-F238E27FC236}">
                <a16:creationId xmlns:a16="http://schemas.microsoft.com/office/drawing/2014/main" id="{E8B0E77D-7ECE-E793-0D43-71A8067B5273}"/>
              </a:ext>
            </a:extLst>
          </p:cNvPr>
          <p:cNvSpPr/>
          <p:nvPr/>
        </p:nvSpPr>
        <p:spPr>
          <a:xfrm>
            <a:off x="6104467" y="154512"/>
            <a:ext cx="2178050" cy="338667"/>
          </a:xfrm>
          <a:prstGeom prst="flowChartMagneticDrum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流程图: 直接访问存储器 33">
            <a:extLst>
              <a:ext uri="{FF2B5EF4-FFF2-40B4-BE49-F238E27FC236}">
                <a16:creationId xmlns:a16="http://schemas.microsoft.com/office/drawing/2014/main" id="{5AA630A8-F817-EDF3-90B0-1779705AAFE2}"/>
              </a:ext>
            </a:extLst>
          </p:cNvPr>
          <p:cNvSpPr/>
          <p:nvPr/>
        </p:nvSpPr>
        <p:spPr>
          <a:xfrm>
            <a:off x="5803900" y="1439314"/>
            <a:ext cx="2178050" cy="427577"/>
          </a:xfrm>
          <a:prstGeom prst="flowChartMagneticDrum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42F6D3E-8ED3-1B9D-CDB0-D36C3C221057}"/>
              </a:ext>
            </a:extLst>
          </p:cNvPr>
          <p:cNvCxnSpPr>
            <a:cxnSpLocks/>
          </p:cNvCxnSpPr>
          <p:nvPr/>
        </p:nvCxnSpPr>
        <p:spPr>
          <a:xfrm>
            <a:off x="1676400" y="154512"/>
            <a:ext cx="8407401" cy="0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B0DD8E8-BB0E-3BB7-752A-484446258B33}"/>
              </a:ext>
            </a:extLst>
          </p:cNvPr>
          <p:cNvCxnSpPr>
            <a:cxnSpLocks/>
          </p:cNvCxnSpPr>
          <p:nvPr/>
        </p:nvCxnSpPr>
        <p:spPr>
          <a:xfrm>
            <a:off x="1447800" y="1866891"/>
            <a:ext cx="8815917" cy="0"/>
          </a:xfrm>
          <a:prstGeom prst="line">
            <a:avLst/>
          </a:prstGeom>
          <a:ln w="3492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7873421D-F411-A248-892F-BA5B857EB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22"/>
          <a:stretch/>
        </p:blipFill>
        <p:spPr>
          <a:xfrm rot="16200000">
            <a:off x="3336640" y="1497826"/>
            <a:ext cx="4748250" cy="5952069"/>
          </a:xfrm>
          <a:prstGeom prst="rect">
            <a:avLst/>
          </a:prstGeom>
        </p:spPr>
      </p:pic>
      <p:sp>
        <p:nvSpPr>
          <p:cNvPr id="44" name="椭圆 43">
            <a:extLst>
              <a:ext uri="{FF2B5EF4-FFF2-40B4-BE49-F238E27FC236}">
                <a16:creationId xmlns:a16="http://schemas.microsoft.com/office/drawing/2014/main" id="{37C052FC-C64F-A0AD-2DE2-5DEBBC3F3273}"/>
              </a:ext>
            </a:extLst>
          </p:cNvPr>
          <p:cNvSpPr/>
          <p:nvPr/>
        </p:nvSpPr>
        <p:spPr>
          <a:xfrm>
            <a:off x="9274176" y="154512"/>
            <a:ext cx="1754717" cy="1712378"/>
          </a:xfrm>
          <a:prstGeom prst="ellipse">
            <a:avLst/>
          </a:prstGeom>
          <a:noFill/>
          <a:ln w="41275"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754717"/>
                      <a:gd name="connsiteY0" fmla="*/ 856189 h 1712378"/>
                      <a:gd name="connsiteX1" fmla="*/ 877359 w 1754717"/>
                      <a:gd name="connsiteY1" fmla="*/ 0 h 1712378"/>
                      <a:gd name="connsiteX2" fmla="*/ 1754718 w 1754717"/>
                      <a:gd name="connsiteY2" fmla="*/ 856189 h 1712378"/>
                      <a:gd name="connsiteX3" fmla="*/ 877359 w 1754717"/>
                      <a:gd name="connsiteY3" fmla="*/ 1712378 h 1712378"/>
                      <a:gd name="connsiteX4" fmla="*/ 0 w 1754717"/>
                      <a:gd name="connsiteY4" fmla="*/ 856189 h 17123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54717" h="1712378" extrusionOk="0">
                        <a:moveTo>
                          <a:pt x="0" y="856189"/>
                        </a:moveTo>
                        <a:cubicBezTo>
                          <a:pt x="-97501" y="323188"/>
                          <a:pt x="338902" y="20231"/>
                          <a:pt x="877359" y="0"/>
                        </a:cubicBezTo>
                        <a:cubicBezTo>
                          <a:pt x="1421822" y="12613"/>
                          <a:pt x="1713523" y="384639"/>
                          <a:pt x="1754718" y="856189"/>
                        </a:cubicBezTo>
                        <a:cubicBezTo>
                          <a:pt x="1680996" y="1401042"/>
                          <a:pt x="1358681" y="1730229"/>
                          <a:pt x="877359" y="1712378"/>
                        </a:cubicBezTo>
                        <a:cubicBezTo>
                          <a:pt x="318723" y="1671845"/>
                          <a:pt x="48252" y="1352104"/>
                          <a:pt x="0" y="856189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682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0C923F7-0467-651C-ED5A-16ED87CBC2EA}"/>
              </a:ext>
            </a:extLst>
          </p:cNvPr>
          <p:cNvSpPr txBox="1"/>
          <p:nvPr/>
        </p:nvSpPr>
        <p:spPr>
          <a:xfrm>
            <a:off x="948266" y="321734"/>
            <a:ext cx="207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Membrane Design 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6610369-CB84-3636-3516-77C28153A7CA}"/>
              </a:ext>
            </a:extLst>
          </p:cNvPr>
          <p:cNvSpPr txBox="1"/>
          <p:nvPr/>
        </p:nvSpPr>
        <p:spPr>
          <a:xfrm>
            <a:off x="333238" y="1012504"/>
            <a:ext cx="41463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Requirement</a:t>
            </a:r>
          </a:p>
          <a:p>
            <a:pPr marL="342900" indent="-342900">
              <a:buAutoNum type="arabicPeriod"/>
            </a:pPr>
            <a:r>
              <a:rPr lang="en-US" altLang="zh-CN" dirty="0"/>
              <a:t>Ability to rotate and align with the polyp location</a:t>
            </a:r>
          </a:p>
          <a:p>
            <a:pPr marL="342900" indent="-342900">
              <a:buAutoNum type="arabicPeriod"/>
            </a:pPr>
            <a:r>
              <a:rPr lang="en-US" altLang="zh-CN" dirty="0"/>
              <a:t>Coaxial layout when deflated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circumferential folding ribs?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3FEABDB-AC27-829B-1398-108351FE7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770" y="990600"/>
            <a:ext cx="6885992" cy="4876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B421937-121D-6020-F1B3-34853FEEA2CC}"/>
              </a:ext>
            </a:extLst>
          </p:cNvPr>
          <p:cNvSpPr txBox="1"/>
          <p:nvPr/>
        </p:nvSpPr>
        <p:spPr>
          <a:xfrm>
            <a:off x="7408333" y="1520335"/>
            <a:ext cx="1269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Membrane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572FA31-76B5-85FE-152A-3F361E69E828}"/>
              </a:ext>
            </a:extLst>
          </p:cNvPr>
          <p:cNvSpPr txBox="1"/>
          <p:nvPr/>
        </p:nvSpPr>
        <p:spPr>
          <a:xfrm>
            <a:off x="5715001" y="4968333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Polyp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FBCB2FE-1A7A-5A97-C807-2C112CF3A194}"/>
              </a:ext>
            </a:extLst>
          </p:cNvPr>
          <p:cNvCxnSpPr>
            <a:stCxn id="11" idx="3"/>
          </p:cNvCxnSpPr>
          <p:nvPr/>
        </p:nvCxnSpPr>
        <p:spPr>
          <a:xfrm flipV="1">
            <a:off x="6451100" y="4411133"/>
            <a:ext cx="1405967" cy="7418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51042DB-8239-BE2E-F28B-9F9B2C19F0EE}"/>
              </a:ext>
            </a:extLst>
          </p:cNvPr>
          <p:cNvSpPr txBox="1"/>
          <p:nvPr/>
        </p:nvSpPr>
        <p:spPr>
          <a:xfrm rot="1076448">
            <a:off x="9948333" y="4157133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capsule</a:t>
            </a:r>
            <a:endParaRPr lang="zh-CN" altLang="en-US" dirty="0"/>
          </a:p>
        </p:txBody>
      </p:sp>
      <p:pic>
        <p:nvPicPr>
          <p:cNvPr id="16" name="pnas.1713450114.sm06">
            <a:hlinkClick r:id="" action="ppaction://media"/>
            <a:extLst>
              <a:ext uri="{FF2B5EF4-FFF2-40B4-BE49-F238E27FC236}">
                <a16:creationId xmlns:a16="http://schemas.microsoft.com/office/drawing/2014/main" id="{031199A4-6AD0-84B6-A80B-EEF935209EA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25" y="2751667"/>
            <a:ext cx="4937007" cy="277706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EFC9E29E-C55A-11AC-3DC5-3CAF926B7C23}"/>
              </a:ext>
            </a:extLst>
          </p:cNvPr>
          <p:cNvSpPr txBox="1"/>
          <p:nvPr/>
        </p:nvSpPr>
        <p:spPr>
          <a:xfrm>
            <a:off x="0" y="6073969"/>
            <a:ext cx="78570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B0B0B"/>
                </a:solidFill>
                <a:effectLst/>
                <a:latin typeface="Montserrat" panose="020F0502020204030204" pitchFamily="2" charset="0"/>
              </a:rPr>
              <a:t>Fluid-driven origami-inspired artificial muscles</a:t>
            </a:r>
            <a:endParaRPr lang="en-US" altLang="zh-CN" dirty="0"/>
          </a:p>
          <a:p>
            <a:r>
              <a:rPr lang="zh-CN" altLang="en-US" dirty="0"/>
              <a:t>https://www.pnas.org/doi/10.1073/pnas.1713450114</a:t>
            </a:r>
          </a:p>
        </p:txBody>
      </p:sp>
    </p:spTree>
    <p:extLst>
      <p:ext uri="{BB962C8B-B14F-4D97-AF65-F5344CB8AC3E}">
        <p14:creationId xmlns:p14="http://schemas.microsoft.com/office/powerpoint/2010/main" val="156248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4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raction devices. (a) Double-balloon Endolumenal Surgical platform, DESP. (b) Endolumenal Interventional Grasper, Ig/ Endolumenal Interventional Grasper with Elbow, IgE.">
            <a:extLst>
              <a:ext uri="{FF2B5EF4-FFF2-40B4-BE49-F238E27FC236}">
                <a16:creationId xmlns:a16="http://schemas.microsoft.com/office/drawing/2014/main" id="{1E62200A-FF27-458D-0F4E-CB99E10534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150"/>
          <a:stretch/>
        </p:blipFill>
        <p:spPr bwMode="auto">
          <a:xfrm>
            <a:off x="476428" y="1304331"/>
            <a:ext cx="9090905" cy="252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182AAB1-DB9C-719D-A18A-7F77F1DCA767}"/>
              </a:ext>
            </a:extLst>
          </p:cNvPr>
          <p:cNvSpPr txBox="1"/>
          <p:nvPr/>
        </p:nvSpPr>
        <p:spPr>
          <a:xfrm>
            <a:off x="307095" y="381001"/>
            <a:ext cx="4146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Requirement</a:t>
            </a:r>
          </a:p>
          <a:p>
            <a:pPr marL="342900" indent="-342900">
              <a:buAutoNum type="arabicPeriod"/>
            </a:pPr>
            <a:r>
              <a:rPr lang="en-US" altLang="zh-CN" dirty="0"/>
              <a:t>Ability to extend and retreat the ballon from capsule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D6F1A8-3374-0DB9-4C61-72FCA672F236}"/>
              </a:ext>
            </a:extLst>
          </p:cNvPr>
          <p:cNvSpPr txBox="1"/>
          <p:nvPr/>
        </p:nvSpPr>
        <p:spPr>
          <a:xfrm>
            <a:off x="5606426" y="23095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222222"/>
                </a:solidFill>
                <a:effectLst/>
                <a:latin typeface="-apple-system"/>
              </a:rPr>
              <a:t>Use of an endoscopic flexible grasper as a traction tool for excision of polyps: preclinical trial</a:t>
            </a:r>
          </a:p>
          <a:p>
            <a:r>
              <a:rPr lang="zh-CN" altLang="en-US" dirty="0"/>
              <a:t>https://www.nature.com/articles/s41598-021-98162-x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2598C63-EFAE-04B6-0022-50C50937170D}"/>
              </a:ext>
            </a:extLst>
          </p:cNvPr>
          <p:cNvSpPr txBox="1"/>
          <p:nvPr/>
        </p:nvSpPr>
        <p:spPr>
          <a:xfrm>
            <a:off x="171785" y="3974880"/>
            <a:ext cx="110512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Current dual-balloon platforms rely on rigid links and reinforced </a:t>
            </a:r>
            <a:r>
              <a:rPr lang="en-US" altLang="zh-CN" dirty="0" err="1"/>
              <a:t>overtubes</a:t>
            </a:r>
            <a:r>
              <a:rPr lang="en-US" altLang="zh-CN" dirty="0"/>
              <a:t>, which limit flexibility and occupy significant lumen space.</a:t>
            </a:r>
          </a:p>
          <a:p>
            <a:r>
              <a:rPr lang="en-US" altLang="zh-CN" dirty="0"/>
              <a:t>Rigid structures cannot safely navigate tight bends, variable lumen diameters, or tortuous segments of the colon.</a:t>
            </a:r>
          </a:p>
          <a:p>
            <a:r>
              <a:rPr lang="en-US" altLang="zh-CN" dirty="0"/>
              <a:t>Existing systems are not compatible with capsule/ eversion robot, because structural components permanently block the central lumen.</a:t>
            </a:r>
          </a:p>
          <a:p>
            <a:r>
              <a:rPr lang="en-US" altLang="zh-CN" dirty="0"/>
              <a:t>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371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椭圆 28">
            <a:extLst>
              <a:ext uri="{FF2B5EF4-FFF2-40B4-BE49-F238E27FC236}">
                <a16:creationId xmlns:a16="http://schemas.microsoft.com/office/drawing/2014/main" id="{F7AC7049-86FF-4153-4357-DBF0B0D0A65C}"/>
              </a:ext>
            </a:extLst>
          </p:cNvPr>
          <p:cNvSpPr/>
          <p:nvPr/>
        </p:nvSpPr>
        <p:spPr>
          <a:xfrm>
            <a:off x="1639245" y="2821504"/>
            <a:ext cx="201051" cy="1847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流程图: 直接访问存储器 27">
            <a:extLst>
              <a:ext uri="{FF2B5EF4-FFF2-40B4-BE49-F238E27FC236}">
                <a16:creationId xmlns:a16="http://schemas.microsoft.com/office/drawing/2014/main" id="{BBFEB56F-51F3-8CCE-4338-48E60EC10B06}"/>
              </a:ext>
            </a:extLst>
          </p:cNvPr>
          <p:cNvSpPr/>
          <p:nvPr/>
        </p:nvSpPr>
        <p:spPr>
          <a:xfrm>
            <a:off x="1700992" y="2756532"/>
            <a:ext cx="433885" cy="249681"/>
          </a:xfrm>
          <a:prstGeom prst="flowChartMagneticDru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流程图: 直接访问存储器 13">
            <a:extLst>
              <a:ext uri="{FF2B5EF4-FFF2-40B4-BE49-F238E27FC236}">
                <a16:creationId xmlns:a16="http://schemas.microsoft.com/office/drawing/2014/main" id="{76B3354C-1CE4-D528-05E5-670A800F1E08}"/>
              </a:ext>
            </a:extLst>
          </p:cNvPr>
          <p:cNvSpPr/>
          <p:nvPr/>
        </p:nvSpPr>
        <p:spPr>
          <a:xfrm>
            <a:off x="7569729" y="2552184"/>
            <a:ext cx="1412876" cy="369332"/>
          </a:xfrm>
          <a:prstGeom prst="flowChartMagneticDru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0717C0-935B-C580-28B8-4D0AB17EAB68}"/>
              </a:ext>
            </a:extLst>
          </p:cNvPr>
          <p:cNvSpPr/>
          <p:nvPr/>
        </p:nvSpPr>
        <p:spPr>
          <a:xfrm>
            <a:off x="6982884" y="3240614"/>
            <a:ext cx="1557866" cy="2201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2A8EA0-8A2F-E923-C753-6918C65BB7B0}"/>
              </a:ext>
            </a:extLst>
          </p:cNvPr>
          <p:cNvSpPr/>
          <p:nvPr/>
        </p:nvSpPr>
        <p:spPr>
          <a:xfrm>
            <a:off x="6982884" y="3359147"/>
            <a:ext cx="1557866" cy="1439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38F211-C4E0-B015-9258-974BAA72159E}"/>
              </a:ext>
            </a:extLst>
          </p:cNvPr>
          <p:cNvSpPr txBox="1"/>
          <p:nvPr/>
        </p:nvSpPr>
        <p:spPr>
          <a:xfrm>
            <a:off x="346075" y="863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Three-chamber pneumatic architecture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C76E187-90DD-1E4C-CFF1-540775245F64}"/>
              </a:ext>
            </a:extLst>
          </p:cNvPr>
          <p:cNvSpPr/>
          <p:nvPr/>
        </p:nvSpPr>
        <p:spPr>
          <a:xfrm>
            <a:off x="8276167" y="1940984"/>
            <a:ext cx="726016" cy="1591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4F52D35-A470-83ED-B988-BBF1F091767E}"/>
              </a:ext>
            </a:extLst>
          </p:cNvPr>
          <p:cNvSpPr/>
          <p:nvPr/>
        </p:nvSpPr>
        <p:spPr>
          <a:xfrm>
            <a:off x="6521451" y="1928284"/>
            <a:ext cx="745067" cy="1591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直接访问存储器 12">
            <a:extLst>
              <a:ext uri="{FF2B5EF4-FFF2-40B4-BE49-F238E27FC236}">
                <a16:creationId xmlns:a16="http://schemas.microsoft.com/office/drawing/2014/main" id="{6DA4AE5D-CE21-0F5F-004B-6A83FECE46EB}"/>
              </a:ext>
            </a:extLst>
          </p:cNvPr>
          <p:cNvSpPr/>
          <p:nvPr/>
        </p:nvSpPr>
        <p:spPr>
          <a:xfrm>
            <a:off x="8473627" y="2552184"/>
            <a:ext cx="1255182" cy="369332"/>
          </a:xfrm>
          <a:prstGeom prst="flowChartMagneticDru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E8E6214-0EDD-A609-EB48-FA148AF4DC8C}"/>
              </a:ext>
            </a:extLst>
          </p:cNvPr>
          <p:cNvSpPr txBox="1"/>
          <p:nvPr/>
        </p:nvSpPr>
        <p:spPr>
          <a:xfrm>
            <a:off x="8276167" y="1503353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back balloon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86F463-3F99-2B0F-0FA6-F8BDAA9623DA}"/>
              </a:ext>
            </a:extLst>
          </p:cNvPr>
          <p:cNvSpPr txBox="1"/>
          <p:nvPr/>
        </p:nvSpPr>
        <p:spPr>
          <a:xfrm>
            <a:off x="6203951" y="1516619"/>
            <a:ext cx="1557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front balloon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D31EFFC-9E8B-AABB-D40E-F14D3BDD7BE7}"/>
              </a:ext>
            </a:extLst>
          </p:cNvPr>
          <p:cNvSpPr txBox="1"/>
          <p:nvPr/>
        </p:nvSpPr>
        <p:spPr>
          <a:xfrm>
            <a:off x="6442075" y="3604682"/>
            <a:ext cx="398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flexible support for extension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109C2ED-73DE-AD88-11EA-ABE5BEAA676B}"/>
              </a:ext>
            </a:extLst>
          </p:cNvPr>
          <p:cNvSpPr txBox="1"/>
          <p:nvPr/>
        </p:nvSpPr>
        <p:spPr>
          <a:xfrm>
            <a:off x="9728809" y="2552184"/>
            <a:ext cx="102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Capsule 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0AA181-A7CA-1CFB-DF5E-8CCFCB846D2F}"/>
              </a:ext>
            </a:extLst>
          </p:cNvPr>
          <p:cNvSpPr txBox="1"/>
          <p:nvPr/>
        </p:nvSpPr>
        <p:spPr>
          <a:xfrm>
            <a:off x="6203951" y="863888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Stage 2 Inflation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25ECBB-6888-5F47-C3B6-3C71779932F9}"/>
              </a:ext>
            </a:extLst>
          </p:cNvPr>
          <p:cNvSpPr txBox="1"/>
          <p:nvPr/>
        </p:nvSpPr>
        <p:spPr>
          <a:xfrm>
            <a:off x="719667" y="869441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Stage 1 deflation</a:t>
            </a:r>
            <a:endParaRPr lang="zh-CN" altLang="en-US" dirty="0"/>
          </a:p>
        </p:txBody>
      </p:sp>
      <p:sp>
        <p:nvSpPr>
          <p:cNvPr id="25" name="流程图: 直接访问存储器 24">
            <a:extLst>
              <a:ext uri="{FF2B5EF4-FFF2-40B4-BE49-F238E27FC236}">
                <a16:creationId xmlns:a16="http://schemas.microsoft.com/office/drawing/2014/main" id="{87048FF0-4492-169F-1FB2-4D6F2C2FBAE1}"/>
              </a:ext>
            </a:extLst>
          </p:cNvPr>
          <p:cNvSpPr/>
          <p:nvPr/>
        </p:nvSpPr>
        <p:spPr>
          <a:xfrm>
            <a:off x="1030737" y="2466953"/>
            <a:ext cx="1412876" cy="369332"/>
          </a:xfrm>
          <a:prstGeom prst="flowChartMagneticDru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1A4FD16-8138-E6A0-A19F-B2B9D83F38EA}"/>
              </a:ext>
            </a:extLst>
          </p:cNvPr>
          <p:cNvSpPr/>
          <p:nvPr/>
        </p:nvSpPr>
        <p:spPr>
          <a:xfrm>
            <a:off x="1901262" y="2224646"/>
            <a:ext cx="327954" cy="78156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流程图: 直接访问存储器 26">
            <a:extLst>
              <a:ext uri="{FF2B5EF4-FFF2-40B4-BE49-F238E27FC236}">
                <a16:creationId xmlns:a16="http://schemas.microsoft.com/office/drawing/2014/main" id="{0840013C-54B3-EFBE-7EF2-7794E1B92D96}"/>
              </a:ext>
            </a:extLst>
          </p:cNvPr>
          <p:cNvSpPr/>
          <p:nvPr/>
        </p:nvSpPr>
        <p:spPr>
          <a:xfrm>
            <a:off x="1934635" y="2466953"/>
            <a:ext cx="1255182" cy="369332"/>
          </a:xfrm>
          <a:prstGeom prst="flowChartMagneticDru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89F3843-3574-309D-F14A-9814E6F0FAAE}"/>
              </a:ext>
            </a:extLst>
          </p:cNvPr>
          <p:cNvSpPr txBox="1"/>
          <p:nvPr/>
        </p:nvSpPr>
        <p:spPr>
          <a:xfrm>
            <a:off x="153497" y="3789348"/>
            <a:ext cx="134809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1. Minimal Profile When Not in Use</a:t>
            </a:r>
          </a:p>
          <a:p>
            <a:r>
              <a:rPr lang="en-US" altLang="zh-CN" sz="1600" dirty="0"/>
              <a:t>2. No Rigid Mechanical Connections → Safer Interaction</a:t>
            </a:r>
          </a:p>
          <a:p>
            <a:r>
              <a:rPr lang="en-US" altLang="zh-CN" sz="1600" dirty="0"/>
              <a:t>3. Length Freedom &amp; Angular Freedom</a:t>
            </a:r>
          </a:p>
          <a:p>
            <a:r>
              <a:rPr lang="en-US" altLang="zh-CN" sz="1600" dirty="0"/>
              <a:t>The central flexible segment is supported by three parallel pneumatic lines, giving natural multi-DOF bending.</a:t>
            </a:r>
          </a:p>
          <a:p>
            <a:r>
              <a:rPr lang="en-US" altLang="zh-CN" sz="1600" dirty="0"/>
              <a:t>The system adapts to arbitrary colon curvature, unlike rigid dual-balloon frames.</a:t>
            </a:r>
          </a:p>
          <a:p>
            <a:r>
              <a:rPr lang="en-US" altLang="zh-CN" sz="1600" dirty="0"/>
              <a:t>Extension length can be freely adjusted by controlling the pneumatic pressure distribution.</a:t>
            </a:r>
          </a:p>
          <a:p>
            <a:r>
              <a:rPr lang="en-US" altLang="zh-CN" sz="1600" dirty="0"/>
              <a:t>4. Fully Soft, Conformal Anchoring</a:t>
            </a:r>
          </a:p>
          <a:p>
            <a:r>
              <a:rPr lang="en-US" altLang="zh-CN" sz="1600" dirty="0"/>
              <a:t>Balloons expand into smooth, large-area contact surfaces that distribute pressure safely.</a:t>
            </a:r>
          </a:p>
          <a:p>
            <a:r>
              <a:rPr lang="en-US" altLang="zh-CN" sz="1600" dirty="0"/>
              <a:t>Anchoring is created through compliant radial expansion, not rigid wedging.</a:t>
            </a:r>
          </a:p>
          <a:p>
            <a:r>
              <a:rPr lang="en-US" altLang="zh-CN" sz="1600" dirty="0"/>
              <a:t>Suitable for repeated deployment at multiple sites.</a:t>
            </a:r>
          </a:p>
          <a:p>
            <a:r>
              <a:rPr lang="en-US" altLang="zh-CN" sz="1600" dirty="0"/>
              <a:t>5. Repeated Deploy / Retract Capability</a:t>
            </a:r>
          </a:p>
          <a:p>
            <a:r>
              <a:rPr lang="en-US" altLang="zh-CN" sz="1600" dirty="0"/>
              <a:t>6. Geometry-Adaptive and Self-Aligning</a:t>
            </a:r>
          </a:p>
        </p:txBody>
      </p:sp>
    </p:spTree>
    <p:extLst>
      <p:ext uri="{BB962C8B-B14F-4D97-AF65-F5344CB8AC3E}">
        <p14:creationId xmlns:p14="http://schemas.microsoft.com/office/powerpoint/2010/main" val="214152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297</Words>
  <Application>Microsoft Office PowerPoint</Application>
  <PresentationFormat>宽屏</PresentationFormat>
  <Paragraphs>41</Paragraphs>
  <Slides>6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-apple-system</vt:lpstr>
      <vt:lpstr>等线</vt:lpstr>
      <vt:lpstr>等线 Light</vt:lpstr>
      <vt:lpstr>Arial</vt:lpstr>
      <vt:lpstr>Montserrat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清正 从</dc:creator>
  <cp:lastModifiedBy>清正 从</cp:lastModifiedBy>
  <cp:revision>1</cp:revision>
  <dcterms:created xsi:type="dcterms:W3CDTF">2025-11-13T14:03:16Z</dcterms:created>
  <dcterms:modified xsi:type="dcterms:W3CDTF">2025-11-13T15:26:52Z</dcterms:modified>
</cp:coreProperties>
</file>